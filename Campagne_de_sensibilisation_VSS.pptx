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7" r:id="rId8"/>
    <p:sldId id="262" r:id="rId9"/>
    <p:sldId id="269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C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41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04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59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2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F28C0F">
              <a:alpha val="85000"/>
            </a:srgbClr>
          </a:solidFill>
          <a:ln w="12700">
            <a:solidFill>
              <a:srgbClr val="F28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F5B93A">
              <a:alpha val="65000"/>
            </a:srgbClr>
          </a:solidFill>
          <a:ln w="12700">
            <a:solidFill>
              <a:srgbClr val="F5B93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DE SENSIBILISATION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les VSS au travail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Shana Closse  ·  Émilie Velia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secteur encore très masculin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91840" cy="1417320"/>
          </a:xfrm>
          <a:prstGeom prst="roundRect">
            <a:avLst>
              <a:gd name="adj" fmla="val 9677"/>
            </a:avLst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29489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28,5 % </a:t>
            </a:r>
            <a:r>
              <a:rPr lang="en-US" sz="2400" b="1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effectifs industriels sont des femmes (</a:t>
            </a:r>
            <a:r>
              <a:rPr lang="en-US" sz="12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Insee</a:t>
            </a: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291840" cy="1417320"/>
          </a:xfrm>
          <a:prstGeom prst="roundRect">
            <a:avLst>
              <a:gd name="adj" fmla="val 967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20 %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femmes dans les postes de direction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463040"/>
            <a:ext cx="4480560" cy="301752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6916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fr-F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chiffres montrent la perpétuation des stigmatisation de genre dans le milieu industriel considéré d’avantage comme un milieu masculin, où les femmes sont en minorités et déléguées souvent à des postes de second plan.</a:t>
            </a:r>
          </a:p>
          <a:p>
            <a:pPr>
              <a:spcAft>
                <a:spcPts val="400"/>
              </a:spcAft>
            </a:pPr>
            <a:endParaRPr lang="fr-FR" sz="1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endParaRPr lang="en-US" sz="1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 milieu dominé par une logique patriarcale, les VSS envers les minorités de genre sont minimisées et vues comme des « contraintes traditionnelles » du secteur.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8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COMMANDE</a:t>
            </a:r>
            <a:endParaRPr lang="en-US" sz="1300" b="1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dirty="0"/>
              <a:t>U</a:t>
            </a:r>
            <a:r>
              <a:rPr lang="fr-FR" b="0" i="0" dirty="0">
                <a:effectLst/>
              </a:rPr>
              <a:t>ne grande entreprise du secteur industriel nous a sollicité pour développer une campagne visant à sensibiliser et prévenir ces violences </a:t>
            </a: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cadre de sa politique d’égalité professionnelle.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sensibiliser aux VSS en milieu professionnel sans perpétuer les stigmatisations déjà présentes ?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campagnes existantes échouent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schéma unique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 victime / homme agresseur : les minorités de genre et les cas atypiques sont exclus.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600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violences minimisées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Actes verbaux et responsabilité des agresseurs relégués au second plan.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solutions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Préconisations discrètes, voire invisibles : la marche à suivre n’est pas claire.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Réagir plutôt que prévenir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adressées aux « victimes », rarement aux auteurs.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disent les affiches actuelles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4874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39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de Lyon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0363" y="1927859"/>
            <a:ext cx="1554480" cy="1531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Préconisations pas assez claires, peu de solutions.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06040" y="134874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3570" y="1539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Coopemploi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1" y="1927860"/>
            <a:ext cx="1554480" cy="66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Victimise et fragilise les femmes.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34874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39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278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prend pas en compte les violences de genre envers la communauté LGBT.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1348740"/>
            <a:ext cx="1920240" cy="3474720"/>
          </a:xfrm>
          <a:prstGeom prst="roundRect">
            <a:avLst>
              <a:gd name="adj" fmla="val 714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539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935481"/>
            <a:ext cx="1554480" cy="51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Victimisation de l’agresseur.</a:t>
            </a:r>
            <a:endParaRPr lang="en-US" sz="125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D71E03E6-F77C-DE75-B186-9BC49D3EB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332" y="2895602"/>
            <a:ext cx="1347256" cy="165353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0B93D668-6094-1B33-0170-331D7917D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238" y="2895602"/>
            <a:ext cx="1239232" cy="165353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DA0F67F-0BDA-CAA3-8794-9DDDED9B3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909" y="2895602"/>
            <a:ext cx="1139522" cy="1707415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F1AFB2AF-2DB4-6463-6DF8-C5D16A4A07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666" r="-5071" b="28741"/>
          <a:stretch/>
        </p:blipFill>
        <p:spPr>
          <a:xfrm>
            <a:off x="731520" y="2895602"/>
            <a:ext cx="1330376" cy="17074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427220" y="822960"/>
            <a:ext cx="4404360" cy="4046220"/>
          </a:xfrm>
          <a:prstGeom prst="roundRect">
            <a:avLst>
              <a:gd name="adj" fmla="val 535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1540" y="11734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leur étude menée en 2024 : </a:t>
            </a:r>
          </a:p>
          <a:p>
            <a:pPr marL="0" indent="0">
              <a:buNone/>
            </a:pPr>
            <a:endParaRPr lang="fr-FR" sz="20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 donnés par les centres de recherche dépendant exclusivement </a:t>
            </a:r>
          </a:p>
          <a:p>
            <a:pPr marL="0" indent="0">
              <a:buNone/>
            </a:pPr>
            <a:r>
              <a:rPr lang="fr-FR" sz="16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dépôts de plaintes, pas les violences réelles</a:t>
            </a:r>
            <a:r>
              <a:rPr lang="fr-FR" sz="14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fr-FR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l’explique par :</a:t>
            </a:r>
            <a:br>
              <a:rPr lang="fr-FR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fr-FR" sz="8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  <a:latin typeface="YAFdJjbTu24_1"/>
                <a:ea typeface="Calibri" pitchFamily="34" charset="-122"/>
                <a:cs typeface="Calibri" pitchFamily="34" charset="-120"/>
              </a:rPr>
              <a:t>Minimisation inconsciente des victimes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Banalisation intégrée et transmise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chemeClr val="bg1"/>
                </a:solidFill>
                <a:effectLst/>
                <a:latin typeface="YAFdJjbTu24_1"/>
              </a:rPr>
              <a:t>Agressions faites dans un but  </a:t>
            </a:r>
            <a:r>
              <a:rPr lang="fr-FR" sz="1400" b="1" i="0" dirty="0">
                <a:solidFill>
                  <a:schemeClr val="bg1"/>
                </a:solidFill>
                <a:effectLst/>
                <a:latin typeface="YAFdJjbTu24_1"/>
              </a:rPr>
              <a:t>« paternel 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  <a:latin typeface="YAFdJjbTu24_1"/>
                <a:ea typeface="Calibri" pitchFamily="34" charset="-122"/>
                <a:cs typeface="Calibri" pitchFamily="34" charset="-120"/>
              </a:rPr>
              <a:t>Continuum de violences sur le ton de l’humour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Les postes importants occupés par des hommes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Domination patriarcale internalisée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4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400" dirty="0">
              <a:solidFill>
                <a:srgbClr val="F28C0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400" dirty="0">
              <a:solidFill>
                <a:srgbClr val="F28C0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400" dirty="0">
              <a:solidFill>
                <a:srgbClr val="F28C0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200" dirty="0">
              <a:solidFill>
                <a:srgbClr val="F28C0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F28C0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ABA3E09-AAB8-ECC2-2F7B-BF7B451DE27A}"/>
              </a:ext>
            </a:extLst>
          </p:cNvPr>
          <p:cNvSpPr txBox="1"/>
          <p:nvPr/>
        </p:nvSpPr>
        <p:spPr>
          <a:xfrm>
            <a:off x="22860" y="1756142"/>
            <a:ext cx="44043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Morgane </a:t>
            </a:r>
            <a:r>
              <a:rPr lang="fr-FR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Rudaz</a:t>
            </a:r>
            <a:b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</a:p>
          <a:p>
            <a:pPr algn="ctr"/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Cloé </a:t>
            </a:r>
            <a:r>
              <a:rPr lang="fr-FR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Vianin</a:t>
            </a:r>
            <a:r>
              <a:rPr lang="fr-FR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06444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déjà été tenté en entreprise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3017520"/>
          </a:xfrm>
          <a:prstGeom prst="roundRect">
            <a:avLst>
              <a:gd name="adj" fmla="val 535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Giffar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d’une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harcèlement et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agissements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sexists” et creation d’un kit de prévention des VSST : fiches pratiques, check-lists, guides de bonnes pratiques (Anact, 2024).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535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référents au CSE (un homme, une femme), animations de sensibilisation en groupe et procedure à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les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témoins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violence.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sessions en 2023.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560320" cy="3017520"/>
          </a:xfrm>
          <a:prstGeom prst="roundRect">
            <a:avLst>
              <a:gd name="adj" fmla="val 5357"/>
            </a:avLst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relevées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terme « référent harcèlement » dramatise et dissuade de témoigner. La peur pour la réputation et la cohésion pousse au silence, ce qui freine les sanctions.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94123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PRÉCONISATION N°1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Affiches de prévention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663440" cy="3108960"/>
          </a:xfrm>
          <a:prstGeom prst="roundRect">
            <a:avLst>
              <a:gd name="adj" fmla="val 441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personnages non genrés illustrent différentes VSS au travail.</a:t>
            </a:r>
          </a:p>
          <a:p>
            <a:pPr marL="0" indent="0">
              <a:spcAft>
                <a:spcPts val="500"/>
              </a:spcAft>
              <a:buNone/>
            </a:pPr>
            <a:endParaRPr lang="en-US" sz="12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Préconisations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explicites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affiche indique clairement les référents de cohésion et les numéros à contacter (dont le 3919).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s’adressent à la fois aux auteurs potentiels, pour les amener à réfléchir à leurs comportements, et aux victimes et témoins, pour encourager la prise de parole.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40680" y="1417320"/>
            <a:ext cx="3154680" cy="3108960"/>
          </a:xfrm>
          <a:prstGeom prst="roundRect">
            <a:avLst>
              <a:gd name="adj" fmla="val 4412"/>
            </a:avLst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UTILISÉ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96596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à la peur modéré (Fear Drive Model, Janis et McGuire) : rappeler les sanctions encourues crée une prise de conscience sans provoquer de </a:t>
            </a:r>
            <a:r>
              <a:rPr lang="en-US" sz="12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déni</a:t>
            </a: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200" dirty="0">
              <a:solidFill>
                <a:srgbClr val="0B0B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2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peur</a:t>
            </a: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doit </a:t>
            </a:r>
            <a:r>
              <a:rPr lang="en-US" sz="12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</a:t>
            </a: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modérée</a:t>
            </a: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ne pas </a:t>
            </a:r>
            <a:r>
              <a:rPr lang="en-US" sz="12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provoquer</a:t>
            </a: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</a:t>
            </a: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défensifs</a:t>
            </a: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face à la </a:t>
            </a:r>
            <a:r>
              <a:rPr lang="en-US" sz="1200" dirty="0" err="1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terreur</a:t>
            </a: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affiche peut aussi susciter de l’empathie ou de l’identification.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UTILISÉ</a:t>
            </a:r>
            <a:endParaRPr lang="en-US" sz="11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41C28A0-52C7-2B03-8517-AD19E2B74E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700" b="1200"/>
          <a:stretch/>
        </p:blipFill>
        <p:spPr>
          <a:xfrm>
            <a:off x="2750987" y="160020"/>
            <a:ext cx="3175088" cy="448056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15A3776F-52BD-AF30-C588-AB78A9621699}"/>
              </a:ext>
            </a:extLst>
          </p:cNvPr>
          <p:cNvSpPr txBox="1"/>
          <p:nvPr/>
        </p:nvSpPr>
        <p:spPr>
          <a:xfrm>
            <a:off x="2676287" y="4632960"/>
            <a:ext cx="220284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>
                <a:solidFill>
                  <a:schemeClr val="bg1"/>
                </a:solidFill>
              </a:rPr>
              <a:t>Design exemple par Closse Shana et Émilie Velia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946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7"/>
    </mc:Choice>
    <mc:Fallback>
      <p:transition spd="slow" advTm="236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PRÉCONISATION N°2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Référents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cohésion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engagement 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663440" cy="3108960"/>
          </a:xfrm>
          <a:prstGeom prst="roundRect">
            <a:avLst>
              <a:gd name="adj" fmla="val 441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homme et une femme, intermédiaires neutres entre victimes, personnes mises en cause et hiérarchie.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Recueillir signalements et plaintes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Animer les réunions de sensibilisation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Rappeler les règles sur incivilités, harcèlement et sexisme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Faire signer à tous une charte de prévention, renouvelée tous les six mois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40680" y="1417320"/>
            <a:ext cx="3154680" cy="3108960"/>
          </a:xfrm>
          <a:prstGeom prst="roundRect">
            <a:avLst>
              <a:gd name="adj" fmla="val 4412"/>
            </a:avLst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UTILISÉ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96596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signature de la charte est un acte d’engagement : elle incite les salariés à poursuivre leurs actions pour réduire les violences et améliorer l’environnement de travail pour tous.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PRÉCONISATION N°3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de discussion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663440" cy="3108960"/>
          </a:xfrm>
          <a:prstGeom prst="roundRect">
            <a:avLst>
              <a:gd name="adj" fmla="val 441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de discussion préventive : rappel pédagogique de ce qui constitue une violence sexiste ou sexuelle, puis échange pour distinguer les comportements inacceptables et lever les ambiguïtés.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mixtes avec les référents, sans les dirigeants, pour une parole libre.</a:t>
            </a:r>
          </a:p>
          <a:p>
            <a:pPr marL="0" indent="0">
              <a:spcAft>
                <a:spcPts val="500"/>
              </a:spcAft>
              <a:buNone/>
            </a:pPr>
            <a:endParaRPr lang="en-US" sz="12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baromètre transmis à la direction de façon anonymisée.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40680" y="1417320"/>
            <a:ext cx="3154680" cy="3108960"/>
          </a:xfrm>
          <a:prstGeom prst="roundRect">
            <a:avLst>
              <a:gd name="adj" fmla="val 4412"/>
            </a:avLst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UTILISÉ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96596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pied-dans-la-porte » (théorie de l’engagement) : participer à ces réunions est un premier acte qui prédispose à réagir plus facilement face à de vraies VSS.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PAR LES COLLABORATEURS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baromètre : où commence la violence ?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394960" y="1417320"/>
            <a:ext cx="3200400" cy="301752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2356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marche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0116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le baromètre crée une dissonance cognitive : les salariés alignent leurs actes sur leurs idées (effet de gel).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rend visible le continuum de la violence (Liz Kelly) et lutte contre la banalisation.</a:t>
            </a:r>
            <a:endParaRPr lang="en-US" sz="120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0046F20C-6786-9E61-3C8B-4AE035CA6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07" y="1107186"/>
            <a:ext cx="2596325" cy="3637788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AC8EBF6-12CC-6D40-E393-3878ADCB9820}"/>
              </a:ext>
            </a:extLst>
          </p:cNvPr>
          <p:cNvSpPr txBox="1"/>
          <p:nvPr/>
        </p:nvSpPr>
        <p:spPr>
          <a:xfrm>
            <a:off x="967740" y="4744974"/>
            <a:ext cx="42519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i="1" dirty="0">
                <a:solidFill>
                  <a:schemeClr val="bg1"/>
                </a:solidFill>
              </a:rPr>
              <a:t>Baromètre par Closse Shana et Émilie Velia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objectifs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530352"/>
          </a:xfrm>
          <a:prstGeom prst="roundRect">
            <a:avLst>
              <a:gd name="adj" fmla="val 2586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347472" cy="347472"/>
          </a:xfrm>
          <a:prstGeom prst="ellipse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716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Sensibiliser tous les collaborateurs et clarifier ce qui est inacceptable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8046720" cy="530352"/>
          </a:xfrm>
          <a:prstGeom prst="roundRect">
            <a:avLst>
              <a:gd name="adj" fmla="val 2586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84832"/>
            <a:ext cx="347472" cy="347472"/>
          </a:xfrm>
          <a:prstGeom prst="ellipse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933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Libérer la parole et le signalement dans un cadre sécurisé et confidentiel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15184"/>
            <a:ext cx="8046720" cy="530352"/>
          </a:xfrm>
          <a:prstGeom prst="roundRect">
            <a:avLst>
              <a:gd name="adj" fmla="val 2586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06624"/>
            <a:ext cx="347472" cy="347472"/>
          </a:xfrm>
          <a:prstGeom prst="ellipse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1518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Impliquer les collaborateurs pour repérer et comprendre les comportements problématiques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8046720" cy="530352"/>
          </a:xfrm>
          <a:prstGeom prst="roundRect">
            <a:avLst>
              <a:gd name="adj" fmla="val 2586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328416"/>
            <a:ext cx="347472" cy="347472"/>
          </a:xfrm>
          <a:prstGeom prst="ellipse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23697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la culture d’entreprise : respect, vigilance, responsabilité collective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58768"/>
            <a:ext cx="8046720" cy="530352"/>
          </a:xfrm>
          <a:prstGeom prst="roundRect">
            <a:avLst>
              <a:gd name="adj" fmla="val 25862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950208"/>
            <a:ext cx="347472" cy="347472"/>
          </a:xfrm>
          <a:prstGeom prst="ellipse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85876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solutions et accompagnement via les référents de cohésion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2996</TotalTime>
  <Words>935</Words>
  <Application>Microsoft Office PowerPoint</Application>
  <PresentationFormat>Affichage à l'écran (16:9)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YAFdJjbTu24_1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Shana Closse</cp:lastModifiedBy>
  <cp:revision>7</cp:revision>
  <dcterms:created xsi:type="dcterms:W3CDTF">2026-09-30T15:11:59Z</dcterms:created>
  <dcterms:modified xsi:type="dcterms:W3CDTF">2026-10-02T17:10:07Z</dcterms:modified>
</cp:coreProperties>
</file>